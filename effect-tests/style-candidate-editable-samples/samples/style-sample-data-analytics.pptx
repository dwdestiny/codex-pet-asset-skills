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B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B1D"/>
          </a:solidFill>
          <a:ln w="12700">
            <a:solidFill>
              <a:srgbClr val="020B1D">
                <a:alpha val="0"/>
              </a:srgbClr>
            </a:solidFill>
            <a:prstDash val="solid"/>
          </a:ln>
        </p:spPr>
      </p:sp>
      <p:pic>
        <p:nvPicPr>
          <p:cNvPr id="3" name="Image 0" descr="/Users/dw/Desktop/codex-visual-asset-skills/effect-tests/style-candidate-editable-samples/assets/background-data-analyt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58368" y="420624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6C72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RESEARCH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658368" y="694944"/>
            <a:ext cx="5623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 AI 应用趋势调研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694944" y="14630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C72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行业研究报告样张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76656" y="1938528"/>
            <a:ext cx="4983480" cy="1938528"/>
          </a:xfrm>
          <a:prstGeom prst="roundRect">
            <a:avLst>
              <a:gd name="adj" fmla="val 3774"/>
            </a:avLst>
          </a:prstGeom>
          <a:solidFill>
            <a:srgbClr val="061C3A">
              <a:alpha val="78000"/>
            </a:srgbClr>
          </a:solidFill>
          <a:ln w="12700">
            <a:solidFill>
              <a:srgbClr val="12C7D6">
                <a:alpha val="5400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32688" y="22311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关键指标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32688" y="2670048"/>
            <a:ext cx="4343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企业采用 AI 的竞争点，正从模型能力转向数据资产、流程嵌入和投入产出监控。</a:t>
            </a:r>
            <a:endParaRPr lang="en-US" sz="1120" dirty="0"/>
          </a:p>
        </p:txBody>
      </p:sp>
      <p:sp>
        <p:nvSpPr>
          <p:cNvPr id="10" name="Shape 7"/>
          <p:cNvSpPr/>
          <p:nvPr/>
        </p:nvSpPr>
        <p:spPr>
          <a:xfrm>
            <a:off x="960120" y="3493008"/>
            <a:ext cx="73152" cy="73152"/>
          </a:xfrm>
          <a:prstGeom prst="ellipse">
            <a:avLst/>
          </a:prstGeom>
          <a:solidFill>
            <a:srgbClr val="6C72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24712" y="3438144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试点数量增长</a:t>
            </a:r>
            <a:endParaRPr lang="en-US" sz="830" dirty="0"/>
          </a:p>
        </p:txBody>
      </p:sp>
      <p:sp>
        <p:nvSpPr>
          <p:cNvPr id="12" name="Shape 9"/>
          <p:cNvSpPr/>
          <p:nvPr/>
        </p:nvSpPr>
        <p:spPr>
          <a:xfrm>
            <a:off x="960120" y="3767328"/>
            <a:ext cx="73152" cy="73152"/>
          </a:xfrm>
          <a:prstGeom prst="ellipse">
            <a:avLst/>
          </a:prstGeom>
          <a:solidFill>
            <a:srgbClr val="12C7D6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24712" y="3712464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复用组件增加</a:t>
            </a:r>
            <a:endParaRPr lang="en-US" sz="830" dirty="0"/>
          </a:p>
        </p:txBody>
      </p:sp>
      <p:sp>
        <p:nvSpPr>
          <p:cNvPr id="14" name="Shape 11"/>
          <p:cNvSpPr/>
          <p:nvPr/>
        </p:nvSpPr>
        <p:spPr>
          <a:xfrm>
            <a:off x="960120" y="4041648"/>
            <a:ext cx="73152" cy="73152"/>
          </a:xfrm>
          <a:prstGeom prst="ellipse">
            <a:avLst/>
          </a:prstGeom>
          <a:solidFill>
            <a:srgbClr val="6C72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24712" y="3986784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3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ROI 口径更严格</a:t>
            </a:r>
            <a:endParaRPr lang="en-US" sz="830" dirty="0"/>
          </a:p>
        </p:txBody>
      </p:sp>
      <p:sp>
        <p:nvSpPr>
          <p:cNvPr id="16" name="Shape 13"/>
          <p:cNvSpPr/>
          <p:nvPr/>
        </p:nvSpPr>
        <p:spPr>
          <a:xfrm>
            <a:off x="713232" y="4498848"/>
            <a:ext cx="1417320" cy="749808"/>
          </a:xfrm>
          <a:prstGeom prst="roundRect">
            <a:avLst>
              <a:gd name="adj" fmla="val 9756"/>
            </a:avLst>
          </a:prstGeom>
          <a:solidFill>
            <a:srgbClr val="08213C">
              <a:alpha val="78000"/>
            </a:srgbClr>
          </a:solidFill>
          <a:ln w="12700">
            <a:solidFill>
              <a:srgbClr val="6C72FF">
                <a:alpha val="7500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41248" y="4590288"/>
            <a:ext cx="1161288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C72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73%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841248" y="4933737"/>
            <a:ext cx="1161288" cy="19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企业已进入试点</a:t>
            </a:r>
            <a:endParaRPr lang="en-US" sz="760" dirty="0"/>
          </a:p>
        </p:txBody>
      </p:sp>
      <p:sp>
        <p:nvSpPr>
          <p:cNvPr id="19" name="Shape 16"/>
          <p:cNvSpPr/>
          <p:nvPr/>
        </p:nvSpPr>
        <p:spPr>
          <a:xfrm>
            <a:off x="2395728" y="4498848"/>
            <a:ext cx="1417320" cy="749808"/>
          </a:xfrm>
          <a:prstGeom prst="roundRect">
            <a:avLst>
              <a:gd name="adj" fmla="val 9756"/>
            </a:avLst>
          </a:prstGeom>
          <a:solidFill>
            <a:srgbClr val="08213C">
              <a:alpha val="78000"/>
            </a:srgbClr>
          </a:solidFill>
          <a:ln w="12700">
            <a:solidFill>
              <a:srgbClr val="12C7D6">
                <a:alpha val="75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523744" y="4590288"/>
            <a:ext cx="1161288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2C7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3x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2523744" y="4933737"/>
            <a:ext cx="1161288" cy="19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高频任务提效</a:t>
            </a:r>
            <a:endParaRPr lang="en-US" sz="760" dirty="0"/>
          </a:p>
        </p:txBody>
      </p:sp>
      <p:sp>
        <p:nvSpPr>
          <p:cNvPr id="22" name="Shape 19"/>
          <p:cNvSpPr/>
          <p:nvPr/>
        </p:nvSpPr>
        <p:spPr>
          <a:xfrm>
            <a:off x="4078224" y="4498848"/>
            <a:ext cx="1417320" cy="749808"/>
          </a:xfrm>
          <a:prstGeom prst="roundRect">
            <a:avLst>
              <a:gd name="adj" fmla="val 9756"/>
            </a:avLst>
          </a:prstGeom>
          <a:solidFill>
            <a:srgbClr val="08213C">
              <a:alpha val="78000"/>
            </a:srgbClr>
          </a:solidFill>
          <a:ln w="12700">
            <a:solidFill>
              <a:srgbClr val="6C72FF">
                <a:alpha val="75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06240" y="4590288"/>
            <a:ext cx="1161288" cy="344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C72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4206240" y="4933737"/>
            <a:ext cx="1161288" cy="1949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规模化落地窗口</a:t>
            </a:r>
            <a:endParaRPr lang="en-US" sz="760" dirty="0"/>
          </a:p>
        </p:txBody>
      </p:sp>
      <p:sp>
        <p:nvSpPr>
          <p:cNvPr id="25" name="Shape 22"/>
          <p:cNvSpPr/>
          <p:nvPr/>
        </p:nvSpPr>
        <p:spPr>
          <a:xfrm>
            <a:off x="6583680" y="1097280"/>
            <a:ext cx="4498848" cy="4187952"/>
          </a:xfrm>
          <a:prstGeom prst="roundRect">
            <a:avLst>
              <a:gd name="adj" fmla="val 1747"/>
            </a:avLst>
          </a:prstGeom>
          <a:solidFill>
            <a:srgbClr val="04192F">
              <a:alpha val="76000"/>
            </a:srgbClr>
          </a:solidFill>
          <a:ln w="12700">
            <a:solidFill>
              <a:srgbClr val="12C7D6">
                <a:alpha val="5800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949440" y="135331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趋势指数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6903720" y="3895344"/>
            <a:ext cx="3611880" cy="0"/>
          </a:xfrm>
          <a:prstGeom prst="line">
            <a:avLst/>
          </a:prstGeom>
          <a:noFill/>
          <a:ln w="12700">
            <a:solidFill>
              <a:srgbClr val="2E6F9E">
                <a:alpha val="7000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104888" y="3065800"/>
            <a:ext cx="651510" cy="829544"/>
          </a:xfrm>
          <a:prstGeom prst="rect">
            <a:avLst/>
          </a:prstGeom>
          <a:solidFill>
            <a:srgbClr val="6C72FF"/>
          </a:solidFill>
          <a:ln w="12700">
            <a:solidFill>
              <a:srgbClr val="6C72FF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068312" y="4023360"/>
            <a:ext cx="72466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采纳</a:t>
            </a:r>
            <a:endParaRPr lang="en-US" sz="680" dirty="0"/>
          </a:p>
        </p:txBody>
      </p:sp>
      <p:sp>
        <p:nvSpPr>
          <p:cNvPr id="30" name="Shape 27"/>
          <p:cNvSpPr/>
          <p:nvPr/>
        </p:nvSpPr>
        <p:spPr>
          <a:xfrm>
            <a:off x="7957566" y="2631277"/>
            <a:ext cx="651510" cy="1264067"/>
          </a:xfrm>
          <a:prstGeom prst="rect">
            <a:avLst/>
          </a:prstGeom>
          <a:solidFill>
            <a:srgbClr val="12C7D6"/>
          </a:solidFill>
          <a:ln w="12700">
            <a:solidFill>
              <a:srgbClr val="12C7D6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920990" y="4023360"/>
            <a:ext cx="72466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复用</a:t>
            </a:r>
            <a:endParaRPr lang="en-US" sz="680" dirty="0"/>
          </a:p>
        </p:txBody>
      </p:sp>
      <p:sp>
        <p:nvSpPr>
          <p:cNvPr id="32" name="Shape 29"/>
          <p:cNvSpPr/>
          <p:nvPr/>
        </p:nvSpPr>
        <p:spPr>
          <a:xfrm>
            <a:off x="8810244" y="2354763"/>
            <a:ext cx="651510" cy="1540581"/>
          </a:xfrm>
          <a:prstGeom prst="rect">
            <a:avLst/>
          </a:prstGeom>
          <a:solidFill>
            <a:srgbClr val="6C72FF"/>
          </a:solidFill>
          <a:ln w="12700">
            <a:solidFill>
              <a:srgbClr val="6C72FF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773668" y="4023360"/>
            <a:ext cx="72466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成本</a:t>
            </a:r>
            <a:endParaRPr lang="en-US" sz="680" dirty="0"/>
          </a:p>
        </p:txBody>
      </p:sp>
      <p:sp>
        <p:nvSpPr>
          <p:cNvPr id="34" name="Shape 31"/>
          <p:cNvSpPr/>
          <p:nvPr/>
        </p:nvSpPr>
        <p:spPr>
          <a:xfrm>
            <a:off x="9662922" y="2097999"/>
            <a:ext cx="651510" cy="1797345"/>
          </a:xfrm>
          <a:prstGeom prst="rect">
            <a:avLst/>
          </a:prstGeom>
          <a:solidFill>
            <a:srgbClr val="12C7D6"/>
          </a:solidFill>
          <a:ln w="12700">
            <a:solidFill>
              <a:srgbClr val="12C7D6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9626346" y="4023360"/>
            <a:ext cx="72466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8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收益</a:t>
            </a:r>
            <a:endParaRPr lang="en-US" sz="680" dirty="0"/>
          </a:p>
        </p:txBody>
      </p:sp>
      <p:sp>
        <p:nvSpPr>
          <p:cNvPr id="36" name="Shape 33"/>
          <p:cNvSpPr/>
          <p:nvPr/>
        </p:nvSpPr>
        <p:spPr>
          <a:xfrm>
            <a:off x="6949440" y="4809744"/>
            <a:ext cx="475488" cy="0"/>
          </a:xfrm>
          <a:prstGeom prst="line">
            <a:avLst/>
          </a:prstGeom>
          <a:noFill/>
          <a:ln w="19050">
            <a:solidFill>
              <a:srgbClr val="6C72FF">
                <a:alpha val="9000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571232" y="4718304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40" dirty="0">
                <a:solidFill>
                  <a:srgbClr val="A7C3D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文字、数字和图表标签均为 PPT 可编辑对象</a:t>
            </a:r>
            <a:endParaRPr lang="en-US" sz="740" dirty="0"/>
          </a:p>
        </p:txBody>
      </p:sp>
      <p:sp>
        <p:nvSpPr>
          <p:cNvPr id="38" name="Text 35"/>
          <p:cNvSpPr/>
          <p:nvPr/>
        </p:nvSpPr>
        <p:spPr>
          <a:xfrm>
            <a:off x="9875520" y="629107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6C72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数据分析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codex-visual-asset-skills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AI 应用趋势调研 - 数据分析</dc:title>
  <dc:subject>Editable style candidate sample</dc:subject>
  <dc:creator>Codex</dc:creator>
  <cp:lastModifiedBy>Codex</cp:lastModifiedBy>
  <cp:revision>1</cp:revision>
  <dcterms:created xsi:type="dcterms:W3CDTF">2026-05-07T03:44:06Z</dcterms:created>
  <dcterms:modified xsi:type="dcterms:W3CDTF">2026-05-07T03:44:06Z</dcterms:modified>
</cp:coreProperties>
</file>